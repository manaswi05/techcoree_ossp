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256" r:id="rId5"/>
    <p:sldId id="257" r:id="rId6"/>
    <p:sldId id="286" r:id="rId7"/>
    <p:sldId id="299" r:id="rId8"/>
    <p:sldId id="289" r:id="rId9"/>
    <p:sldId id="301" r:id="rId10"/>
    <p:sldId id="290" r:id="rId11"/>
    <p:sldId id="291" r:id="rId12"/>
    <p:sldId id="295" r:id="rId13"/>
    <p:sldId id="29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5646" autoAdjust="0"/>
  </p:normalViewPr>
  <p:slideViewPr>
    <p:cSldViewPr snapToGrid="0">
      <p:cViewPr varScale="1">
        <p:scale>
          <a:sx n="106" d="100"/>
          <a:sy n="106" d="100"/>
        </p:scale>
        <p:origin x="786" y="96"/>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9/2/2026</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9/2/2026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964844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2474778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27098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7" r:id="rId9"/>
    <p:sldLayoutId id="2147483661" r:id="rId10"/>
    <p:sldLayoutId id="2147483666" r:id="rId11"/>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362140" y="869133"/>
            <a:ext cx="8264426" cy="3775295"/>
          </a:xfrm>
        </p:spPr>
        <p:txBody>
          <a:bodyPr/>
          <a:lstStyle/>
          <a:p>
            <a:pPr>
              <a:lnSpc>
                <a:spcPct val="133000"/>
              </a:lnSpc>
              <a:spcAft>
                <a:spcPts val="1650"/>
              </a:spcAft>
            </a:pPr>
            <a:r>
              <a:rPr lang="en-US" sz="4000" dirty="0"/>
              <a:t>Linux Signal-Based Process Communication and Control System</a:t>
            </a:r>
            <a:br>
              <a:rPr lang="en-US" sz="4400" dirty="0"/>
            </a:br>
            <a:r>
              <a:rPr lang="en-US" sz="2000" dirty="0">
                <a:solidFill>
                  <a:srgbClr val="4C4C4D"/>
                </a:solidFill>
                <a:latin typeface="Bell MT" panose="02020503060305020303" pitchFamily="18" charset="0"/>
                <a:ea typeface="Heebo" pitchFamily="34" charset="-122"/>
                <a:cs typeface="Heebo" pitchFamily="34" charset="-120"/>
              </a:rPr>
              <a:t>Course: Operating Systems and Systems Programming </a:t>
            </a:r>
            <a:br>
              <a:rPr lang="en-US" sz="2000" dirty="0">
                <a:solidFill>
                  <a:srgbClr val="4C4C4D"/>
                </a:solidFill>
                <a:latin typeface="Bell MT" panose="02020503060305020303" pitchFamily="18" charset="0"/>
                <a:ea typeface="Heebo" pitchFamily="34" charset="-122"/>
                <a:cs typeface="Heebo" pitchFamily="34" charset="-120"/>
              </a:rPr>
            </a:br>
            <a:r>
              <a:rPr lang="en-US" sz="2000" dirty="0">
                <a:solidFill>
                  <a:srgbClr val="4C4C4D"/>
                </a:solidFill>
                <a:latin typeface="Bell MT" panose="02020503060305020303" pitchFamily="18" charset="0"/>
                <a:ea typeface="Heebo" pitchFamily="34" charset="-122"/>
                <a:cs typeface="Heebo" pitchFamily="34" charset="-120"/>
              </a:rPr>
              <a:t>Course Code: 25CS2104E  |  Section: 1  |  Team No: 7</a:t>
            </a:r>
            <a:br>
              <a:rPr lang="en-US" sz="2000" dirty="0">
                <a:solidFill>
                  <a:srgbClr val="4C4C4D"/>
                </a:solidFill>
                <a:latin typeface="Bell MT" panose="02020503060305020303" pitchFamily="18" charset="0"/>
                <a:ea typeface="Heebo" pitchFamily="34" charset="-122"/>
                <a:cs typeface="Heebo" pitchFamily="34" charset="-120"/>
              </a:rPr>
            </a:br>
            <a:r>
              <a:rPr lang="en-US" sz="2000" dirty="0">
                <a:solidFill>
                  <a:srgbClr val="4C4C4D"/>
                </a:solidFill>
                <a:latin typeface="Bell MT" panose="02020503060305020303" pitchFamily="18" charset="0"/>
                <a:ea typeface="Heebo" pitchFamily="34" charset="-122"/>
                <a:cs typeface="Heebo" pitchFamily="34" charset="-120"/>
              </a:rPr>
              <a:t>Team Members:</a:t>
            </a:r>
            <a:br>
              <a:rPr lang="en-US" sz="2000" dirty="0">
                <a:solidFill>
                  <a:srgbClr val="4C4C4D"/>
                </a:solidFill>
                <a:latin typeface="Bell MT" panose="02020503060305020303" pitchFamily="18" charset="0"/>
                <a:ea typeface="Heebo" pitchFamily="34" charset="-122"/>
                <a:cs typeface="Heebo" pitchFamily="34" charset="-120"/>
              </a:rPr>
            </a:br>
            <a:r>
              <a:rPr lang="en-US" sz="1600" dirty="0">
                <a:solidFill>
                  <a:srgbClr val="4C4C4D"/>
                </a:solidFill>
                <a:latin typeface="Bell MT" panose="02020503060305020303" pitchFamily="18" charset="0"/>
                <a:ea typeface="Heebo" pitchFamily="34" charset="-122"/>
                <a:cs typeface="Heebo" pitchFamily="34" charset="-120"/>
              </a:rPr>
              <a:t> 2520030411 - Manaswi</a:t>
            </a:r>
            <a:br>
              <a:rPr lang="en-US" sz="1600" dirty="0">
                <a:solidFill>
                  <a:srgbClr val="4C4C4D"/>
                </a:solidFill>
                <a:latin typeface="Bell MT" panose="02020503060305020303" pitchFamily="18" charset="0"/>
                <a:ea typeface="Heebo" pitchFamily="34" charset="-122"/>
                <a:cs typeface="Heebo" pitchFamily="34" charset="-120"/>
              </a:rPr>
            </a:br>
            <a:r>
              <a:rPr lang="en-US" sz="1600" dirty="0">
                <a:solidFill>
                  <a:srgbClr val="4C4C4D"/>
                </a:solidFill>
                <a:latin typeface="Bell MT" panose="02020503060305020303" pitchFamily="18" charset="0"/>
                <a:ea typeface="Heebo" pitchFamily="34" charset="-122"/>
                <a:cs typeface="Heebo" pitchFamily="34" charset="-120"/>
              </a:rPr>
              <a:t>2520030517 – Nithya </a:t>
            </a:r>
            <a:br>
              <a:rPr lang="en-US" sz="1600" dirty="0">
                <a:solidFill>
                  <a:srgbClr val="4C4C4D"/>
                </a:solidFill>
                <a:latin typeface="Bell MT" panose="02020503060305020303" pitchFamily="18" charset="0"/>
                <a:ea typeface="Heebo" pitchFamily="34" charset="-122"/>
                <a:cs typeface="Heebo" pitchFamily="34" charset="-120"/>
              </a:rPr>
            </a:br>
            <a:r>
              <a:rPr lang="en-US" sz="1600" dirty="0">
                <a:solidFill>
                  <a:srgbClr val="4C4C4D"/>
                </a:solidFill>
                <a:latin typeface="Bell MT" panose="02020503060305020303" pitchFamily="18" charset="0"/>
                <a:ea typeface="Heebo" pitchFamily="34" charset="-122"/>
                <a:cs typeface="Heebo" pitchFamily="34" charset="-120"/>
              </a:rPr>
              <a:t>2520030272 – Sri Lakshmi </a:t>
            </a:r>
            <a:endParaRPr lang="en-US" sz="1600" dirty="0"/>
          </a:p>
        </p:txBody>
      </p:sp>
      <p:pic>
        <p:nvPicPr>
          <p:cNvPr id="4" name="Picture 3">
            <a:extLst>
              <a:ext uri="{FF2B5EF4-FFF2-40B4-BE49-F238E27FC236}">
                <a16:creationId xmlns:a16="http://schemas.microsoft.com/office/drawing/2014/main" id="{8F642905-8554-45FB-0EBD-7AC571001448}"/>
              </a:ext>
            </a:extLst>
          </p:cNvPr>
          <p:cNvPicPr>
            <a:picLocks noChangeAspect="1"/>
          </p:cNvPicPr>
          <p:nvPr/>
        </p:nvPicPr>
        <p:blipFill>
          <a:blip r:embed="rId3"/>
          <a:stretch>
            <a:fillRect/>
          </a:stretch>
        </p:blipFill>
        <p:spPr>
          <a:xfrm>
            <a:off x="9875944" y="-427635"/>
            <a:ext cx="2146599" cy="1595532"/>
          </a:xfrm>
          <a:prstGeom prst="rect">
            <a:avLst/>
          </a:prstGeom>
        </p:spPr>
      </p:pic>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206408" y="316871"/>
            <a:ext cx="9779183" cy="649417"/>
          </a:xfrm>
        </p:spPr>
        <p:txBody>
          <a:bodyPr/>
          <a:lstStyle/>
          <a:p>
            <a:r>
              <a:rPr lang="en-IN" dirty="0"/>
              <a:t>Abstract</a:t>
            </a:r>
            <a:endParaRPr lang="en-US" dirty="0"/>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99197" y="1358020"/>
            <a:ext cx="7622997" cy="4744016"/>
          </a:xfrm>
        </p:spPr>
        <p:txBody>
          <a:bodyPr vert="horz" lIns="91440" tIns="45720" rIns="91440" bIns="45720" rtlCol="0" anchor="t">
            <a:noAutofit/>
          </a:bodyPr>
          <a:lstStyle/>
          <a:p>
            <a:r>
              <a:rPr lang="en-IN" sz="2400" b="1" dirty="0"/>
              <a:t>Linux Signal-Based Process Communication and Control System</a:t>
            </a:r>
            <a:r>
              <a:rPr lang="en-IN" sz="2400" dirty="0"/>
              <a:t> is a Linux-based project that demonstrates </a:t>
            </a:r>
            <a:r>
              <a:rPr lang="en-IN" sz="2400" b="1" dirty="0"/>
              <a:t>inter-process communication and process control using signals</a:t>
            </a:r>
            <a:r>
              <a:rPr lang="en-IN" sz="2400" dirty="0"/>
              <a:t>. The system enables a parent process to communicate with and control child processes using signals such as SIGUSR1, SIGUSR2, SIGINT, and SIGTERM. It uses system calls like fork(), kill(), and signal handlers to perform actions such as process notification, status checking, pausing, and safe termination. The project provides practical understanding of </a:t>
            </a:r>
            <a:r>
              <a:rPr lang="en-IN" sz="2400" b="1" dirty="0"/>
              <a:t>Linux process management, signal handling, synchronization, and IPC</a:t>
            </a:r>
            <a:r>
              <a:rPr lang="en-IN" sz="2400" dirty="0"/>
              <a:t>, making it useful for learning core Operating System concepts.</a:t>
            </a:r>
            <a:endParaRPr lang="en-US" sz="2400" dirty="0"/>
          </a:p>
        </p:txBody>
      </p:sp>
      <p:pic>
        <p:nvPicPr>
          <p:cNvPr id="5" name="Picture 4">
            <a:extLst>
              <a:ext uri="{FF2B5EF4-FFF2-40B4-BE49-F238E27FC236}">
                <a16:creationId xmlns:a16="http://schemas.microsoft.com/office/drawing/2014/main" id="{DEE8834A-09F1-2557-7DD9-BC85F15AA612}"/>
              </a:ext>
            </a:extLst>
          </p:cNvPr>
          <p:cNvPicPr>
            <a:picLocks noChangeAspect="1"/>
          </p:cNvPicPr>
          <p:nvPr/>
        </p:nvPicPr>
        <p:blipFill>
          <a:blip r:embed="rId3"/>
          <a:stretch>
            <a:fillRect/>
          </a:stretch>
        </p:blipFill>
        <p:spPr>
          <a:xfrm>
            <a:off x="7982779" y="1584356"/>
            <a:ext cx="3522398" cy="3250194"/>
          </a:xfrm>
          <a:prstGeom prst="rect">
            <a:avLst/>
          </a:prstGeom>
        </p:spPr>
      </p:pic>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D47F04-F36E-ED2E-CAA3-C9425F7546A1}"/>
              </a:ext>
            </a:extLst>
          </p:cNvPr>
          <p:cNvSpPr>
            <a:spLocks noGrp="1"/>
          </p:cNvSpPr>
          <p:nvPr>
            <p:ph type="title"/>
          </p:nvPr>
        </p:nvSpPr>
        <p:spPr>
          <a:xfrm>
            <a:off x="1167897" y="99589"/>
            <a:ext cx="7596762" cy="923454"/>
          </a:xfrm>
        </p:spPr>
        <p:txBody>
          <a:bodyPr/>
          <a:lstStyle/>
          <a:p>
            <a:r>
              <a:rPr lang="en-IN" dirty="0"/>
              <a:t>Problem Statement</a:t>
            </a:r>
          </a:p>
        </p:txBody>
      </p:sp>
      <p:sp>
        <p:nvSpPr>
          <p:cNvPr id="4" name="Subtitle 3">
            <a:extLst>
              <a:ext uri="{FF2B5EF4-FFF2-40B4-BE49-F238E27FC236}">
                <a16:creationId xmlns:a16="http://schemas.microsoft.com/office/drawing/2014/main" id="{52C2FFAA-61CC-07D1-C5D7-8B176B29EDFA}"/>
              </a:ext>
            </a:extLst>
          </p:cNvPr>
          <p:cNvSpPr>
            <a:spLocks noGrp="1"/>
          </p:cNvSpPr>
          <p:nvPr>
            <p:ph type="subTitle" idx="1"/>
          </p:nvPr>
        </p:nvSpPr>
        <p:spPr>
          <a:xfrm>
            <a:off x="199057" y="1204112"/>
            <a:ext cx="6663469" cy="5798743"/>
          </a:xfrm>
        </p:spPr>
        <p:txBody>
          <a:bodyPr/>
          <a:lstStyle/>
          <a:p>
            <a:r>
              <a:rPr lang="en-IN" dirty="0"/>
              <a:t>Managing communication and control between multiple processes in Linux can be challenging without an efficient mechanism. This project aims to use </a:t>
            </a:r>
            <a:r>
              <a:rPr lang="en-IN" b="1" dirty="0"/>
              <a:t>Linux signals for inter-process communication</a:t>
            </a:r>
            <a:r>
              <a:rPr lang="en-IN" dirty="0"/>
              <a:t>, allowing processes to send commands, respond to events, monitor status, and terminate safely. It demonstrates a simple and effective approach to </a:t>
            </a:r>
            <a:r>
              <a:rPr lang="en-IN" b="1" dirty="0"/>
              <a:t>process management and IPC</a:t>
            </a:r>
            <a:r>
              <a:rPr lang="en-IN" dirty="0"/>
              <a:t>.</a:t>
            </a:r>
          </a:p>
        </p:txBody>
      </p:sp>
      <p:pic>
        <p:nvPicPr>
          <p:cNvPr id="14" name="Picture 13">
            <a:extLst>
              <a:ext uri="{FF2B5EF4-FFF2-40B4-BE49-F238E27FC236}">
                <a16:creationId xmlns:a16="http://schemas.microsoft.com/office/drawing/2014/main" id="{FCF3664B-2203-E12D-5378-DB87FB694114}"/>
              </a:ext>
            </a:extLst>
          </p:cNvPr>
          <p:cNvPicPr>
            <a:picLocks noChangeAspect="1"/>
          </p:cNvPicPr>
          <p:nvPr/>
        </p:nvPicPr>
        <p:blipFill>
          <a:blip r:embed="rId3"/>
          <a:stretch>
            <a:fillRect/>
          </a:stretch>
        </p:blipFill>
        <p:spPr>
          <a:xfrm>
            <a:off x="7387629" y="1122631"/>
            <a:ext cx="3485206" cy="2161853"/>
          </a:xfrm>
          <a:prstGeom prst="rect">
            <a:avLst/>
          </a:prstGeom>
        </p:spPr>
      </p:pic>
      <p:pic>
        <p:nvPicPr>
          <p:cNvPr id="16" name="Picture 15">
            <a:extLst>
              <a:ext uri="{FF2B5EF4-FFF2-40B4-BE49-F238E27FC236}">
                <a16:creationId xmlns:a16="http://schemas.microsoft.com/office/drawing/2014/main" id="{E429E21B-0F04-DED1-0061-CEF25E6697B5}"/>
              </a:ext>
            </a:extLst>
          </p:cNvPr>
          <p:cNvPicPr>
            <a:picLocks noChangeAspect="1"/>
          </p:cNvPicPr>
          <p:nvPr/>
        </p:nvPicPr>
        <p:blipFill>
          <a:blip r:embed="rId4"/>
          <a:stretch>
            <a:fillRect/>
          </a:stretch>
        </p:blipFill>
        <p:spPr>
          <a:xfrm>
            <a:off x="7453341" y="3660618"/>
            <a:ext cx="3520968" cy="1760484"/>
          </a:xfrm>
          <a:prstGeom prst="rect">
            <a:avLst/>
          </a:prstGeom>
        </p:spPr>
      </p:pic>
    </p:spTree>
    <p:extLst>
      <p:ext uri="{BB962C8B-B14F-4D97-AF65-F5344CB8AC3E}">
        <p14:creationId xmlns:p14="http://schemas.microsoft.com/office/powerpoint/2010/main" val="366267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5DEAA-EE08-C98C-E2FE-94B309D521DE}"/>
              </a:ext>
            </a:extLst>
          </p:cNvPr>
          <p:cNvSpPr>
            <a:spLocks noGrp="1"/>
          </p:cNvSpPr>
          <p:nvPr>
            <p:ph type="ctrTitle"/>
          </p:nvPr>
        </p:nvSpPr>
        <p:spPr>
          <a:xfrm>
            <a:off x="1181404" y="261603"/>
            <a:ext cx="5260208" cy="842920"/>
          </a:xfrm>
        </p:spPr>
        <p:txBody>
          <a:bodyPr/>
          <a:lstStyle/>
          <a:p>
            <a:r>
              <a:rPr lang="en-IN" dirty="0"/>
              <a:t>Objectives</a:t>
            </a:r>
          </a:p>
        </p:txBody>
      </p:sp>
      <p:sp>
        <p:nvSpPr>
          <p:cNvPr id="3" name="Subtitle 2">
            <a:extLst>
              <a:ext uri="{FF2B5EF4-FFF2-40B4-BE49-F238E27FC236}">
                <a16:creationId xmlns:a16="http://schemas.microsoft.com/office/drawing/2014/main" id="{6A3FB99C-123A-CB74-8710-365AF461D03A}"/>
              </a:ext>
            </a:extLst>
          </p:cNvPr>
          <p:cNvSpPr>
            <a:spLocks noGrp="1"/>
          </p:cNvSpPr>
          <p:nvPr>
            <p:ph type="subTitle" idx="1"/>
          </p:nvPr>
        </p:nvSpPr>
        <p:spPr>
          <a:xfrm>
            <a:off x="325925" y="1258432"/>
            <a:ext cx="6971167" cy="5446607"/>
          </a:xfrm>
        </p:spPr>
        <p:txBody>
          <a:bodyPr>
            <a:normAutofit fontScale="77500" lnSpcReduction="20000"/>
          </a:bodyPr>
          <a:lstStyle/>
          <a:p>
            <a:pPr marL="571500" lvl="0" indent="-571500">
              <a:buFont typeface="Arial" panose="020B0604020202020204" pitchFamily="34" charset="0"/>
              <a:buChar char="•"/>
            </a:pPr>
            <a:r>
              <a:rPr lang="en-IN" sz="4100" dirty="0"/>
              <a:t>To understand </a:t>
            </a:r>
            <a:r>
              <a:rPr lang="en-IN" sz="4100" b="1" dirty="0"/>
              <a:t>Linux process management and IPC</a:t>
            </a:r>
            <a:r>
              <a:rPr lang="en-IN" sz="4100" dirty="0"/>
              <a:t>. </a:t>
            </a:r>
          </a:p>
          <a:p>
            <a:pPr marL="571500" lvl="0" indent="-571500">
              <a:buFont typeface="Arial" panose="020B0604020202020204" pitchFamily="34" charset="0"/>
              <a:buChar char="•"/>
            </a:pPr>
            <a:r>
              <a:rPr lang="en-IN" sz="4100" dirty="0"/>
              <a:t>To implement </a:t>
            </a:r>
            <a:r>
              <a:rPr lang="en-IN" sz="4100" b="1" dirty="0"/>
              <a:t>signal-based communication</a:t>
            </a:r>
            <a:r>
              <a:rPr lang="en-IN" sz="4100" dirty="0"/>
              <a:t> between processes. </a:t>
            </a:r>
          </a:p>
          <a:p>
            <a:pPr marL="571500" lvl="0" indent="-571500">
              <a:buFont typeface="Arial" panose="020B0604020202020204" pitchFamily="34" charset="0"/>
              <a:buChar char="•"/>
            </a:pPr>
            <a:r>
              <a:rPr lang="en-IN" sz="4100" dirty="0"/>
              <a:t>To use signals for </a:t>
            </a:r>
            <a:r>
              <a:rPr lang="en-IN" sz="4100" b="1" dirty="0"/>
              <a:t>process control and monitoring</a:t>
            </a:r>
            <a:r>
              <a:rPr lang="en-IN" sz="4100" dirty="0"/>
              <a:t>. </a:t>
            </a:r>
          </a:p>
          <a:p>
            <a:pPr marL="571500" lvl="0" indent="-571500">
              <a:buFont typeface="Arial" panose="020B0604020202020204" pitchFamily="34" charset="0"/>
              <a:buChar char="•"/>
            </a:pPr>
            <a:r>
              <a:rPr lang="en-IN" sz="4100" dirty="0"/>
              <a:t>To implement </a:t>
            </a:r>
            <a:r>
              <a:rPr lang="en-IN" sz="4100" b="1" dirty="0"/>
              <a:t>signal handling</a:t>
            </a:r>
            <a:r>
              <a:rPr lang="en-IN" sz="4100" dirty="0"/>
              <a:t> for different events. </a:t>
            </a:r>
          </a:p>
          <a:p>
            <a:pPr marL="571500" lvl="0" indent="-571500">
              <a:buFont typeface="Arial" panose="020B0604020202020204" pitchFamily="34" charset="0"/>
              <a:buChar char="•"/>
            </a:pPr>
            <a:r>
              <a:rPr lang="en-IN" sz="4100" dirty="0"/>
              <a:t>To enable </a:t>
            </a:r>
            <a:r>
              <a:rPr lang="en-IN" sz="4100" b="1" dirty="0"/>
              <a:t>safe process termination</a:t>
            </a:r>
            <a:r>
              <a:rPr lang="en-IN" sz="4100" dirty="0"/>
              <a:t>. </a:t>
            </a:r>
          </a:p>
          <a:p>
            <a:pPr marL="571500" lvl="0" indent="-571500">
              <a:buFont typeface="Arial" panose="020B0604020202020204" pitchFamily="34" charset="0"/>
              <a:buChar char="•"/>
            </a:pPr>
            <a:r>
              <a:rPr lang="en-IN" sz="4100" dirty="0"/>
              <a:t>To gain practical knowledge of </a:t>
            </a:r>
            <a:r>
              <a:rPr lang="en-IN" sz="4100" b="1" dirty="0"/>
              <a:t>Linux system calls</a:t>
            </a:r>
            <a:r>
              <a:rPr lang="en-IN" sz="4100" dirty="0"/>
              <a:t>.</a:t>
            </a:r>
          </a:p>
          <a:p>
            <a:pPr marL="457200" indent="-457200">
              <a:buFont typeface="Arial" panose="020B0604020202020204" pitchFamily="34" charset="0"/>
              <a:buChar char="•"/>
            </a:pPr>
            <a:endParaRPr lang="en-IN" dirty="0"/>
          </a:p>
        </p:txBody>
      </p:sp>
      <p:pic>
        <p:nvPicPr>
          <p:cNvPr id="7" name="Picture 6">
            <a:extLst>
              <a:ext uri="{FF2B5EF4-FFF2-40B4-BE49-F238E27FC236}">
                <a16:creationId xmlns:a16="http://schemas.microsoft.com/office/drawing/2014/main" id="{869D8B70-FD79-C1AE-68CA-219C9E4D4F32}"/>
              </a:ext>
            </a:extLst>
          </p:cNvPr>
          <p:cNvPicPr>
            <a:picLocks noChangeAspect="1"/>
          </p:cNvPicPr>
          <p:nvPr/>
        </p:nvPicPr>
        <p:blipFill>
          <a:blip r:embed="rId2"/>
          <a:stretch>
            <a:fillRect/>
          </a:stretch>
        </p:blipFill>
        <p:spPr>
          <a:xfrm>
            <a:off x="7025489" y="683063"/>
            <a:ext cx="4478448" cy="2499599"/>
          </a:xfrm>
          <a:prstGeom prst="rect">
            <a:avLst/>
          </a:prstGeom>
        </p:spPr>
      </p:pic>
      <p:pic>
        <p:nvPicPr>
          <p:cNvPr id="9" name="Picture 8">
            <a:extLst>
              <a:ext uri="{FF2B5EF4-FFF2-40B4-BE49-F238E27FC236}">
                <a16:creationId xmlns:a16="http://schemas.microsoft.com/office/drawing/2014/main" id="{A5EB90F3-0CF2-1DFE-A299-51590D38D41A}"/>
              </a:ext>
            </a:extLst>
          </p:cNvPr>
          <p:cNvPicPr>
            <a:picLocks noChangeAspect="1"/>
          </p:cNvPicPr>
          <p:nvPr/>
        </p:nvPicPr>
        <p:blipFill>
          <a:blip r:embed="rId3"/>
          <a:stretch>
            <a:fillRect/>
          </a:stretch>
        </p:blipFill>
        <p:spPr>
          <a:xfrm>
            <a:off x="7354431" y="3675339"/>
            <a:ext cx="3820564" cy="2560699"/>
          </a:xfrm>
          <a:prstGeom prst="rect">
            <a:avLst/>
          </a:prstGeom>
        </p:spPr>
      </p:pic>
    </p:spTree>
    <p:extLst>
      <p:ext uri="{BB962C8B-B14F-4D97-AF65-F5344CB8AC3E}">
        <p14:creationId xmlns:p14="http://schemas.microsoft.com/office/powerpoint/2010/main" val="2310371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677926" y="1692996"/>
            <a:ext cx="9779183" cy="724279"/>
          </a:xfrm>
        </p:spPr>
        <p:txBody>
          <a:bodyPr/>
          <a:lstStyle/>
          <a:p>
            <a:r>
              <a:rPr lang="en-IN" dirty="0"/>
              <a:t>Proposed Methodology</a:t>
            </a:r>
            <a:br>
              <a:rPr lang="en-IN" dirty="0"/>
            </a:br>
            <a:endParaRPr lang="en-US" dirty="0"/>
          </a:p>
        </p:txBody>
      </p:sp>
      <p:sp>
        <p:nvSpPr>
          <p:cNvPr id="3" name="Content Placeholder 2">
            <a:extLst>
              <a:ext uri="{FF2B5EF4-FFF2-40B4-BE49-F238E27FC236}">
                <a16:creationId xmlns:a16="http://schemas.microsoft.com/office/drawing/2014/main" id="{DAF7743C-9A64-6DD7-26EC-7870E2484D2F}"/>
              </a:ext>
            </a:extLst>
          </p:cNvPr>
          <p:cNvSpPr>
            <a:spLocks noGrp="1"/>
          </p:cNvSpPr>
          <p:nvPr>
            <p:ph idx="14"/>
          </p:nvPr>
        </p:nvSpPr>
        <p:spPr>
          <a:xfrm>
            <a:off x="677926" y="2634558"/>
            <a:ext cx="9780587" cy="3509413"/>
          </a:xfrm>
        </p:spPr>
        <p:txBody>
          <a:bodyPr>
            <a:normAutofit/>
          </a:bodyPr>
          <a:lstStyle/>
          <a:p>
            <a:pPr lvl="0"/>
            <a:r>
              <a:rPr lang="en-IN" b="1" dirty="0"/>
              <a:t>Create Processes</a:t>
            </a:r>
            <a:r>
              <a:rPr lang="en-IN" dirty="0"/>
              <a:t> – Use fork() to create parent and child processes. </a:t>
            </a:r>
          </a:p>
          <a:p>
            <a:pPr lvl="0"/>
            <a:r>
              <a:rPr lang="en-IN" b="1" dirty="0"/>
              <a:t>Register Signals</a:t>
            </a:r>
            <a:r>
              <a:rPr lang="en-IN" dirty="0"/>
              <a:t> – Set signal handlers for signals like SIGUSR1, SIGUSR2, and SIGTERM. </a:t>
            </a:r>
          </a:p>
          <a:p>
            <a:pPr lvl="0"/>
            <a:r>
              <a:rPr lang="en-IN" b="1" dirty="0"/>
              <a:t>Send Signals</a:t>
            </a:r>
            <a:r>
              <a:rPr lang="en-IN" dirty="0"/>
              <a:t> – Use kill() to send commands between processes. </a:t>
            </a:r>
          </a:p>
          <a:p>
            <a:pPr lvl="0"/>
            <a:r>
              <a:rPr lang="en-IN" b="1" dirty="0"/>
              <a:t>Handle Signals</a:t>
            </a:r>
            <a:r>
              <a:rPr lang="en-IN" dirty="0"/>
              <a:t> – Perform specific actions when signals are received. </a:t>
            </a:r>
          </a:p>
          <a:p>
            <a:pPr lvl="0"/>
            <a:r>
              <a:rPr lang="en-IN" b="1" dirty="0"/>
              <a:t>Monitor Processes</a:t>
            </a:r>
            <a:r>
              <a:rPr lang="en-IN" dirty="0"/>
              <a:t> – Display process status and responses. </a:t>
            </a:r>
          </a:p>
          <a:p>
            <a:pPr lvl="0"/>
            <a:r>
              <a:rPr lang="en-IN" b="1" dirty="0"/>
              <a:t>Terminate Safely</a:t>
            </a:r>
            <a:r>
              <a:rPr lang="en-IN" dirty="0"/>
              <a:t> – Use appropriate signals to stop processes safely. </a:t>
            </a:r>
          </a:p>
          <a:p>
            <a:endParaRPr lang="en-US" dirty="0"/>
          </a:p>
        </p:txBody>
      </p:sp>
    </p:spTree>
    <p:extLst>
      <p:ext uri="{BB962C8B-B14F-4D97-AF65-F5344CB8AC3E}">
        <p14:creationId xmlns:p14="http://schemas.microsoft.com/office/powerpoint/2010/main" val="2529338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7AC3E-293C-D106-CFE3-7C51A0151D63}"/>
              </a:ext>
            </a:extLst>
          </p:cNvPr>
          <p:cNvSpPr>
            <a:spLocks noGrp="1"/>
          </p:cNvSpPr>
          <p:nvPr>
            <p:ph type="title"/>
          </p:nvPr>
        </p:nvSpPr>
        <p:spPr>
          <a:xfrm>
            <a:off x="679031" y="731333"/>
            <a:ext cx="9779183" cy="669486"/>
          </a:xfrm>
        </p:spPr>
        <p:txBody>
          <a:bodyPr/>
          <a:lstStyle/>
          <a:p>
            <a:r>
              <a:rPr lang="en-IN" sz="4400" dirty="0"/>
              <a:t>Project Workflow</a:t>
            </a:r>
            <a:endParaRPr lang="en-IN" dirty="0"/>
          </a:p>
        </p:txBody>
      </p:sp>
      <p:sp>
        <p:nvSpPr>
          <p:cNvPr id="3" name="Content Placeholder 2">
            <a:extLst>
              <a:ext uri="{FF2B5EF4-FFF2-40B4-BE49-F238E27FC236}">
                <a16:creationId xmlns:a16="http://schemas.microsoft.com/office/drawing/2014/main" id="{C8CD8684-EB5E-8F1A-600F-5F35AD9A154D}"/>
              </a:ext>
            </a:extLst>
          </p:cNvPr>
          <p:cNvSpPr>
            <a:spLocks noGrp="1"/>
          </p:cNvSpPr>
          <p:nvPr>
            <p:ph idx="1"/>
          </p:nvPr>
        </p:nvSpPr>
        <p:spPr>
          <a:xfrm>
            <a:off x="398354" y="1720159"/>
            <a:ext cx="10702657" cy="4406508"/>
          </a:xfrm>
        </p:spPr>
        <p:txBody>
          <a:bodyPr>
            <a:noAutofit/>
          </a:bodyPr>
          <a:lstStyle/>
          <a:p>
            <a:pPr marL="342900" indent="-342900">
              <a:buFont typeface="Wingdings" panose="05000000000000000000" pitchFamily="2" charset="2"/>
              <a:buChar char="Ø"/>
            </a:pPr>
            <a:r>
              <a:rPr lang="en-IN" sz="2000" dirty="0"/>
              <a:t>1. START</a:t>
            </a:r>
            <a:br>
              <a:rPr lang="en-IN" sz="2000" dirty="0"/>
            </a:br>
            <a:r>
              <a:rPr lang="en-IN" sz="2000" dirty="0"/>
              <a:t>2. Initialize Linux System</a:t>
            </a:r>
            <a:br>
              <a:rPr lang="en-IN" sz="2000" dirty="0"/>
            </a:br>
            <a:r>
              <a:rPr lang="en-IN" sz="2000" dirty="0"/>
              <a:t>3. Create Parent &amp; Child Processes</a:t>
            </a:r>
            <a:br>
              <a:rPr lang="en-IN" sz="2000" dirty="0"/>
            </a:br>
            <a:r>
              <a:rPr lang="en-IN" sz="2000" dirty="0"/>
              <a:t>4. Register Signal Handlers</a:t>
            </a:r>
            <a:br>
              <a:rPr lang="en-IN" sz="2000" dirty="0"/>
            </a:br>
            <a:r>
              <a:rPr lang="en-IN" sz="2000" dirty="0"/>
              <a:t>5. Send Control Signals</a:t>
            </a:r>
            <a:br>
              <a:rPr lang="en-IN" sz="2000" dirty="0"/>
            </a:br>
            <a:r>
              <a:rPr lang="en-IN" sz="2000" dirty="0"/>
              <a:t>6. Receive &amp; Identify Signal</a:t>
            </a:r>
            <a:br>
              <a:rPr lang="en-IN" sz="2000" dirty="0"/>
            </a:br>
            <a:r>
              <a:rPr lang="en-IN" sz="2000" dirty="0"/>
              <a:t>7. Execute Required Action</a:t>
            </a:r>
            <a:br>
              <a:rPr lang="en-IN" sz="2000" dirty="0"/>
            </a:br>
            <a:r>
              <a:rPr lang="en-IN" sz="2000" dirty="0"/>
              <a:t>(Pause / Resume / Status / Terminate)Monitor Process Response</a:t>
            </a:r>
            <a:br>
              <a:rPr lang="en-IN" sz="2000" dirty="0"/>
            </a:br>
            <a:r>
              <a:rPr lang="en-IN" sz="2000" dirty="0"/>
              <a:t>8. Safe Process Termination</a:t>
            </a:r>
            <a:br>
              <a:rPr lang="en-IN" sz="2000" dirty="0"/>
            </a:br>
            <a:endParaRPr lang="en-IN" sz="2000" dirty="0"/>
          </a:p>
          <a:p>
            <a:pPr marL="342900" indent="-342900">
              <a:buFont typeface="Wingdings" panose="05000000000000000000" pitchFamily="2" charset="2"/>
              <a:buChar char="Ø"/>
            </a:pPr>
            <a:r>
              <a:rPr lang="en-IN" sz="2000" dirty="0"/>
              <a:t>END</a:t>
            </a:r>
            <a:br>
              <a:rPr lang="en-IN" sz="2000" dirty="0"/>
            </a:br>
            <a:r>
              <a:rPr lang="en-IN" sz="2000" dirty="0"/>
              <a:t>Simple flow:</a:t>
            </a:r>
            <a:br>
              <a:rPr lang="en-IN" sz="2000" dirty="0"/>
            </a:br>
            <a:r>
              <a:rPr lang="en-IN" sz="2000" dirty="0"/>
              <a:t>START → CREATE → CONNECT → SIGNAL → RESPOND → CONTROL → MONITOR → TERMINATE → END</a:t>
            </a:r>
            <a:br>
              <a:rPr lang="en-IN" sz="2000" dirty="0"/>
            </a:br>
            <a:endParaRPr lang="en-IN" sz="2000" dirty="0"/>
          </a:p>
        </p:txBody>
      </p:sp>
      <p:pic>
        <p:nvPicPr>
          <p:cNvPr id="5" name="Picture 4">
            <a:extLst>
              <a:ext uri="{FF2B5EF4-FFF2-40B4-BE49-F238E27FC236}">
                <a16:creationId xmlns:a16="http://schemas.microsoft.com/office/drawing/2014/main" id="{109835E8-FD6A-C605-A6D2-137371EB4756}"/>
              </a:ext>
            </a:extLst>
          </p:cNvPr>
          <p:cNvPicPr>
            <a:picLocks noChangeAspect="1"/>
          </p:cNvPicPr>
          <p:nvPr/>
        </p:nvPicPr>
        <p:blipFill>
          <a:blip r:embed="rId2"/>
          <a:stretch>
            <a:fillRect/>
          </a:stretch>
        </p:blipFill>
        <p:spPr>
          <a:xfrm>
            <a:off x="8170018" y="613373"/>
            <a:ext cx="3342951" cy="2815627"/>
          </a:xfrm>
          <a:prstGeom prst="rect">
            <a:avLst/>
          </a:prstGeom>
        </p:spPr>
      </p:pic>
      <p:pic>
        <p:nvPicPr>
          <p:cNvPr id="7" name="Picture 6">
            <a:extLst>
              <a:ext uri="{FF2B5EF4-FFF2-40B4-BE49-F238E27FC236}">
                <a16:creationId xmlns:a16="http://schemas.microsoft.com/office/drawing/2014/main" id="{5E2E5476-CB3F-352B-E964-F4F9393D5972}"/>
              </a:ext>
            </a:extLst>
          </p:cNvPr>
          <p:cNvPicPr>
            <a:picLocks noChangeAspect="1"/>
          </p:cNvPicPr>
          <p:nvPr/>
        </p:nvPicPr>
        <p:blipFill>
          <a:blip r:embed="rId3"/>
          <a:stretch>
            <a:fillRect/>
          </a:stretch>
        </p:blipFill>
        <p:spPr>
          <a:xfrm>
            <a:off x="8505115" y="3639698"/>
            <a:ext cx="2731698" cy="1466555"/>
          </a:xfrm>
          <a:prstGeom prst="rect">
            <a:avLst/>
          </a:prstGeom>
        </p:spPr>
      </p:pic>
    </p:spTree>
    <p:extLst>
      <p:ext uri="{BB962C8B-B14F-4D97-AF65-F5344CB8AC3E}">
        <p14:creationId xmlns:p14="http://schemas.microsoft.com/office/powerpoint/2010/main" val="462434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959262" y="353085"/>
            <a:ext cx="9601200" cy="622000"/>
          </a:xfrm>
        </p:spPr>
        <p:txBody>
          <a:bodyPr/>
          <a:lstStyle/>
          <a:p>
            <a:r>
              <a:rPr lang="en-IN" dirty="0"/>
              <a:t>Linux System Calls / OS Concepts Used</a:t>
            </a:r>
            <a:endParaRPr lang="en-US" dirty="0"/>
          </a:p>
        </p:txBody>
      </p:sp>
      <p:graphicFrame>
        <p:nvGraphicFramePr>
          <p:cNvPr id="2" name="Content Placeholder 1">
            <a:extLst>
              <a:ext uri="{FF2B5EF4-FFF2-40B4-BE49-F238E27FC236}">
                <a16:creationId xmlns:a16="http://schemas.microsoft.com/office/drawing/2014/main" id="{29D99D37-F7C3-67A1-4FC8-A942432586C2}"/>
              </a:ext>
            </a:extLst>
          </p:cNvPr>
          <p:cNvGraphicFramePr>
            <a:graphicFrameLocks noGrp="1"/>
          </p:cNvGraphicFramePr>
          <p:nvPr>
            <p:ph idx="1"/>
            <p:extLst>
              <p:ext uri="{D42A27DB-BD31-4B8C-83A1-F6EECF244321}">
                <p14:modId xmlns:p14="http://schemas.microsoft.com/office/powerpoint/2010/main" val="1587205202"/>
              </p:ext>
            </p:extLst>
          </p:nvPr>
        </p:nvGraphicFramePr>
        <p:xfrm>
          <a:off x="736479" y="1131684"/>
          <a:ext cx="5359521" cy="5205742"/>
        </p:xfrm>
        <a:graphic>
          <a:graphicData uri="http://schemas.openxmlformats.org/drawingml/2006/table">
            <a:tbl>
              <a:tblPr>
                <a:tableStyleId>{69012ECD-51FC-41F1-AA8D-1B2483CD663E}</a:tableStyleId>
              </a:tblPr>
              <a:tblGrid>
                <a:gridCol w="2722212">
                  <a:extLst>
                    <a:ext uri="{9D8B030D-6E8A-4147-A177-3AD203B41FA5}">
                      <a16:colId xmlns:a16="http://schemas.microsoft.com/office/drawing/2014/main" val="111418594"/>
                    </a:ext>
                  </a:extLst>
                </a:gridCol>
                <a:gridCol w="2637309">
                  <a:extLst>
                    <a:ext uri="{9D8B030D-6E8A-4147-A177-3AD203B41FA5}">
                      <a16:colId xmlns:a16="http://schemas.microsoft.com/office/drawing/2014/main" val="1580058925"/>
                    </a:ext>
                  </a:extLst>
                </a:gridCol>
              </a:tblGrid>
              <a:tr h="767667">
                <a:tc>
                  <a:txBody>
                    <a:bodyPr/>
                    <a:lstStyle/>
                    <a:p>
                      <a:pPr marL="285750" indent="-285750">
                        <a:buFont typeface="Wingdings" panose="05000000000000000000" pitchFamily="2" charset="2"/>
                        <a:buChar char="Ø"/>
                      </a:pPr>
                      <a:r>
                        <a:rPr lang="en-IN" sz="1400" dirty="0"/>
                        <a:t>Linux System Call</a:t>
                      </a:r>
                    </a:p>
                  </a:txBody>
                  <a:tcPr marL="37313" marR="37313" marT="18656" marB="18656" anchor="ctr"/>
                </a:tc>
                <a:tc>
                  <a:txBody>
                    <a:bodyPr/>
                    <a:lstStyle/>
                    <a:p>
                      <a:pPr marL="285750" indent="-285750">
                        <a:buFont typeface="Wingdings" panose="05000000000000000000" pitchFamily="2" charset="2"/>
                        <a:buChar char="Ø"/>
                      </a:pPr>
                      <a:r>
                        <a:rPr lang="en-IN" sz="1400" dirty="0"/>
                        <a:t>Purpose</a:t>
                      </a:r>
                    </a:p>
                  </a:txBody>
                  <a:tcPr marL="37313" marR="37313" marT="18656" marB="18656" anchor="ctr"/>
                </a:tc>
                <a:extLst>
                  <a:ext uri="{0D108BD9-81ED-4DB2-BD59-A6C34878D82A}">
                    <a16:rowId xmlns:a16="http://schemas.microsoft.com/office/drawing/2014/main" val="2278618912"/>
                  </a:ext>
                </a:extLst>
              </a:tr>
              <a:tr h="515659">
                <a:tc>
                  <a:txBody>
                    <a:bodyPr/>
                    <a:lstStyle/>
                    <a:p>
                      <a:pPr>
                        <a:buNone/>
                      </a:pPr>
                      <a:r>
                        <a:rPr lang="en-IN" sz="1400" dirty="0"/>
                        <a:t>fork()</a:t>
                      </a:r>
                    </a:p>
                  </a:txBody>
                  <a:tcPr marL="37313" marR="37313" marT="18656" marB="18656" anchor="ctr"/>
                </a:tc>
                <a:tc>
                  <a:txBody>
                    <a:bodyPr/>
                    <a:lstStyle/>
                    <a:p>
                      <a:pPr>
                        <a:buNone/>
                      </a:pPr>
                      <a:r>
                        <a:rPr lang="en-IN" sz="1400"/>
                        <a:t>Creates a new child process</a:t>
                      </a:r>
                    </a:p>
                  </a:txBody>
                  <a:tcPr marL="37313" marR="37313" marT="18656" marB="18656" anchor="ctr"/>
                </a:tc>
                <a:extLst>
                  <a:ext uri="{0D108BD9-81ED-4DB2-BD59-A6C34878D82A}">
                    <a16:rowId xmlns:a16="http://schemas.microsoft.com/office/drawing/2014/main" val="1535141818"/>
                  </a:ext>
                </a:extLst>
              </a:tr>
              <a:tr h="515659">
                <a:tc>
                  <a:txBody>
                    <a:bodyPr/>
                    <a:lstStyle/>
                    <a:p>
                      <a:pPr>
                        <a:buNone/>
                      </a:pPr>
                      <a:r>
                        <a:rPr lang="en-IN" sz="1400"/>
                        <a:t>kill()</a:t>
                      </a:r>
                    </a:p>
                  </a:txBody>
                  <a:tcPr marL="37313" marR="37313" marT="18656" marB="18656" anchor="ctr"/>
                </a:tc>
                <a:tc>
                  <a:txBody>
                    <a:bodyPr/>
                    <a:lstStyle/>
                    <a:p>
                      <a:pPr>
                        <a:buNone/>
                      </a:pPr>
                      <a:r>
                        <a:rPr lang="en-IN" sz="1400"/>
                        <a:t>Sends signals to a process</a:t>
                      </a:r>
                    </a:p>
                  </a:txBody>
                  <a:tcPr marL="37313" marR="37313" marT="18656" marB="18656" anchor="ctr"/>
                </a:tc>
                <a:extLst>
                  <a:ext uri="{0D108BD9-81ED-4DB2-BD59-A6C34878D82A}">
                    <a16:rowId xmlns:a16="http://schemas.microsoft.com/office/drawing/2014/main" val="2294203465"/>
                  </a:ext>
                </a:extLst>
              </a:tr>
              <a:tr h="276154">
                <a:tc>
                  <a:txBody>
                    <a:bodyPr/>
                    <a:lstStyle/>
                    <a:p>
                      <a:pPr>
                        <a:buNone/>
                      </a:pPr>
                      <a:r>
                        <a:rPr lang="en-IN" sz="1400" dirty="0"/>
                        <a:t>signal()</a:t>
                      </a:r>
                    </a:p>
                  </a:txBody>
                  <a:tcPr marL="37313" marR="37313" marT="18656" marB="18656" anchor="ctr"/>
                </a:tc>
                <a:tc>
                  <a:txBody>
                    <a:bodyPr/>
                    <a:lstStyle/>
                    <a:p>
                      <a:pPr>
                        <a:buNone/>
                      </a:pPr>
                      <a:r>
                        <a:rPr lang="en-IN" sz="1400"/>
                        <a:t>Handles received signals</a:t>
                      </a:r>
                    </a:p>
                  </a:txBody>
                  <a:tcPr marL="37313" marR="37313" marT="18656" marB="18656" anchor="ctr"/>
                </a:tc>
                <a:extLst>
                  <a:ext uri="{0D108BD9-81ED-4DB2-BD59-A6C34878D82A}">
                    <a16:rowId xmlns:a16="http://schemas.microsoft.com/office/drawing/2014/main" val="2930782202"/>
                  </a:ext>
                </a:extLst>
              </a:tr>
              <a:tr h="276154">
                <a:tc>
                  <a:txBody>
                    <a:bodyPr/>
                    <a:lstStyle/>
                    <a:p>
                      <a:pPr>
                        <a:buNone/>
                      </a:pPr>
                      <a:r>
                        <a:rPr lang="en-IN" sz="1400"/>
                        <a:t>pause()</a:t>
                      </a:r>
                    </a:p>
                  </a:txBody>
                  <a:tcPr marL="37313" marR="37313" marT="18656" marB="18656" anchor="ctr"/>
                </a:tc>
                <a:tc>
                  <a:txBody>
                    <a:bodyPr/>
                    <a:lstStyle/>
                    <a:p>
                      <a:pPr>
                        <a:buNone/>
                      </a:pPr>
                      <a:r>
                        <a:rPr lang="en-IN" sz="1400"/>
                        <a:t>Waits for a signal</a:t>
                      </a:r>
                    </a:p>
                  </a:txBody>
                  <a:tcPr marL="37313" marR="37313" marT="18656" marB="18656" anchor="ctr"/>
                </a:tc>
                <a:extLst>
                  <a:ext uri="{0D108BD9-81ED-4DB2-BD59-A6C34878D82A}">
                    <a16:rowId xmlns:a16="http://schemas.microsoft.com/office/drawing/2014/main" val="2123458391"/>
                  </a:ext>
                </a:extLst>
              </a:tr>
              <a:tr h="515659">
                <a:tc>
                  <a:txBody>
                    <a:bodyPr/>
                    <a:lstStyle/>
                    <a:p>
                      <a:pPr>
                        <a:buNone/>
                      </a:pPr>
                      <a:r>
                        <a:rPr lang="en-IN" sz="1400" dirty="0" err="1"/>
                        <a:t>getpid</a:t>
                      </a:r>
                      <a:r>
                        <a:rPr lang="en-IN" sz="1400" dirty="0"/>
                        <a:t>()</a:t>
                      </a:r>
                    </a:p>
                  </a:txBody>
                  <a:tcPr marL="37313" marR="37313" marT="18656" marB="18656" anchor="ctr"/>
                </a:tc>
                <a:tc>
                  <a:txBody>
                    <a:bodyPr/>
                    <a:lstStyle/>
                    <a:p>
                      <a:pPr>
                        <a:buNone/>
                      </a:pPr>
                      <a:r>
                        <a:rPr lang="en-IN" sz="1400" dirty="0"/>
                        <a:t>Gets the current process ID</a:t>
                      </a:r>
                    </a:p>
                  </a:txBody>
                  <a:tcPr marL="37313" marR="37313" marT="18656" marB="18656" anchor="ctr"/>
                </a:tc>
                <a:extLst>
                  <a:ext uri="{0D108BD9-81ED-4DB2-BD59-A6C34878D82A}">
                    <a16:rowId xmlns:a16="http://schemas.microsoft.com/office/drawing/2014/main" val="2564025884"/>
                  </a:ext>
                </a:extLst>
              </a:tr>
              <a:tr h="276154">
                <a:tc>
                  <a:txBody>
                    <a:bodyPr/>
                    <a:lstStyle/>
                    <a:p>
                      <a:pPr>
                        <a:buNone/>
                      </a:pPr>
                      <a:r>
                        <a:rPr lang="en-IN" sz="1400"/>
                        <a:t>wait()</a:t>
                      </a:r>
                    </a:p>
                  </a:txBody>
                  <a:tcPr marL="37313" marR="37313" marT="18656" marB="18656" anchor="ctr"/>
                </a:tc>
                <a:tc>
                  <a:txBody>
                    <a:bodyPr/>
                    <a:lstStyle/>
                    <a:p>
                      <a:pPr>
                        <a:buNone/>
                      </a:pPr>
                      <a:r>
                        <a:rPr lang="en-IN" sz="1400"/>
                        <a:t>Waits for a child process</a:t>
                      </a:r>
                    </a:p>
                  </a:txBody>
                  <a:tcPr marL="37313" marR="37313" marT="18656" marB="18656" anchor="ctr"/>
                </a:tc>
                <a:extLst>
                  <a:ext uri="{0D108BD9-81ED-4DB2-BD59-A6C34878D82A}">
                    <a16:rowId xmlns:a16="http://schemas.microsoft.com/office/drawing/2014/main" val="3564220949"/>
                  </a:ext>
                </a:extLst>
              </a:tr>
              <a:tr h="515659">
                <a:tc>
                  <a:txBody>
                    <a:bodyPr/>
                    <a:lstStyle/>
                    <a:p>
                      <a:pPr>
                        <a:buNone/>
                      </a:pPr>
                      <a:r>
                        <a:rPr lang="en-IN" sz="1400"/>
                        <a:t>Process Management</a:t>
                      </a:r>
                    </a:p>
                  </a:txBody>
                  <a:tcPr marL="37313" marR="37313" marT="18656" marB="18656" anchor="ctr"/>
                </a:tc>
                <a:tc>
                  <a:txBody>
                    <a:bodyPr/>
                    <a:lstStyle/>
                    <a:p>
                      <a:pPr>
                        <a:buNone/>
                      </a:pPr>
                      <a:r>
                        <a:rPr lang="en-IN" sz="1400"/>
                        <a:t>Creates and controls processes</a:t>
                      </a:r>
                    </a:p>
                  </a:txBody>
                  <a:tcPr marL="37313" marR="37313" marT="18656" marB="18656" anchor="ctr"/>
                </a:tc>
                <a:extLst>
                  <a:ext uri="{0D108BD9-81ED-4DB2-BD59-A6C34878D82A}">
                    <a16:rowId xmlns:a16="http://schemas.microsoft.com/office/drawing/2014/main" val="2487014797"/>
                  </a:ext>
                </a:extLst>
              </a:tr>
              <a:tr h="515659">
                <a:tc>
                  <a:txBody>
                    <a:bodyPr/>
                    <a:lstStyle/>
                    <a:p>
                      <a:pPr>
                        <a:buNone/>
                      </a:pPr>
                      <a:r>
                        <a:rPr lang="en-IN" sz="1400"/>
                        <a:t>Inter-Process Communication (IPC)</a:t>
                      </a:r>
                    </a:p>
                  </a:txBody>
                  <a:tcPr marL="37313" marR="37313" marT="18656" marB="18656" anchor="ctr"/>
                </a:tc>
                <a:tc>
                  <a:txBody>
                    <a:bodyPr/>
                    <a:lstStyle/>
                    <a:p>
                      <a:pPr>
                        <a:buNone/>
                      </a:pPr>
                      <a:r>
                        <a:rPr lang="en-IN" sz="1400"/>
                        <a:t>Enables process communication</a:t>
                      </a:r>
                    </a:p>
                  </a:txBody>
                  <a:tcPr marL="37313" marR="37313" marT="18656" marB="18656" anchor="ctr"/>
                </a:tc>
                <a:extLst>
                  <a:ext uri="{0D108BD9-81ED-4DB2-BD59-A6C34878D82A}">
                    <a16:rowId xmlns:a16="http://schemas.microsoft.com/office/drawing/2014/main" val="3202557861"/>
                  </a:ext>
                </a:extLst>
              </a:tr>
              <a:tr h="515659">
                <a:tc>
                  <a:txBody>
                    <a:bodyPr/>
                    <a:lstStyle/>
                    <a:p>
                      <a:pPr>
                        <a:buNone/>
                      </a:pPr>
                      <a:r>
                        <a:rPr lang="en-IN" sz="1400"/>
                        <a:t>Signal Handling</a:t>
                      </a:r>
                    </a:p>
                  </a:txBody>
                  <a:tcPr marL="37313" marR="37313" marT="18656" marB="18656" anchor="ctr"/>
                </a:tc>
                <a:tc>
                  <a:txBody>
                    <a:bodyPr/>
                    <a:lstStyle/>
                    <a:p>
                      <a:pPr>
                        <a:buNone/>
                      </a:pPr>
                      <a:r>
                        <a:rPr lang="en-IN" sz="1400"/>
                        <a:t>Responds to system/user events</a:t>
                      </a:r>
                    </a:p>
                  </a:txBody>
                  <a:tcPr marL="37313" marR="37313" marT="18656" marB="18656" anchor="ctr"/>
                </a:tc>
                <a:extLst>
                  <a:ext uri="{0D108BD9-81ED-4DB2-BD59-A6C34878D82A}">
                    <a16:rowId xmlns:a16="http://schemas.microsoft.com/office/drawing/2014/main" val="3896306427"/>
                  </a:ext>
                </a:extLst>
              </a:tr>
              <a:tr h="515659">
                <a:tc>
                  <a:txBody>
                    <a:bodyPr/>
                    <a:lstStyle/>
                    <a:p>
                      <a:pPr>
                        <a:buNone/>
                      </a:pPr>
                      <a:r>
                        <a:rPr lang="en-IN" sz="1400" dirty="0"/>
                        <a:t>Process Synchronization</a:t>
                      </a:r>
                    </a:p>
                  </a:txBody>
                  <a:tcPr marL="37313" marR="37313" marT="18656" marB="18656" anchor="ctr"/>
                </a:tc>
                <a:tc>
                  <a:txBody>
                    <a:bodyPr/>
                    <a:lstStyle/>
                    <a:p>
                      <a:pPr>
                        <a:buNone/>
                      </a:pPr>
                      <a:r>
                        <a:rPr lang="en-IN" sz="1400" dirty="0"/>
                        <a:t>Coordinates parent and child processes</a:t>
                      </a:r>
                    </a:p>
                  </a:txBody>
                  <a:tcPr marL="37313" marR="37313" marT="18656" marB="18656" anchor="ctr"/>
                </a:tc>
                <a:extLst>
                  <a:ext uri="{0D108BD9-81ED-4DB2-BD59-A6C34878D82A}">
                    <a16:rowId xmlns:a16="http://schemas.microsoft.com/office/drawing/2014/main" val="400333206"/>
                  </a:ext>
                </a:extLst>
              </a:tr>
            </a:tbl>
          </a:graphicData>
        </a:graphic>
      </p:graphicFrame>
      <p:sp>
        <p:nvSpPr>
          <p:cNvPr id="7" name="Content Placeholder 6">
            <a:extLst>
              <a:ext uri="{FF2B5EF4-FFF2-40B4-BE49-F238E27FC236}">
                <a16:creationId xmlns:a16="http://schemas.microsoft.com/office/drawing/2014/main" id="{F3474A5F-3648-10C8-F894-83AC2AAE63FF}"/>
              </a:ext>
            </a:extLst>
          </p:cNvPr>
          <p:cNvSpPr>
            <a:spLocks noGrp="1"/>
          </p:cNvSpPr>
          <p:nvPr>
            <p:ph idx="10"/>
          </p:nvPr>
        </p:nvSpPr>
        <p:spPr>
          <a:xfrm>
            <a:off x="6536731" y="1321806"/>
            <a:ext cx="5359521" cy="4463358"/>
          </a:xfrm>
        </p:spPr>
        <p:txBody>
          <a:bodyPr>
            <a:normAutofit/>
          </a:bodyPr>
          <a:lstStyle/>
          <a:p>
            <a:pPr marL="342900" indent="-342900">
              <a:buFont typeface="Wingdings" panose="05000000000000000000" pitchFamily="2" charset="2"/>
              <a:buChar char="Ø"/>
            </a:pPr>
            <a:r>
              <a:rPr lang="en-IN" b="1" dirty="0"/>
              <a:t>Concepts Used</a:t>
            </a:r>
          </a:p>
          <a:p>
            <a:pPr lvl="0"/>
            <a:r>
              <a:rPr lang="en-IN" b="1" dirty="0"/>
              <a:t>Process Creation &amp; Management</a:t>
            </a:r>
            <a:r>
              <a:rPr lang="en-IN" dirty="0"/>
              <a:t> </a:t>
            </a:r>
          </a:p>
          <a:p>
            <a:pPr lvl="0"/>
            <a:r>
              <a:rPr lang="en-IN" b="1" dirty="0"/>
              <a:t>Inter-Process Communication (IPC)</a:t>
            </a:r>
            <a:r>
              <a:rPr lang="en-IN" dirty="0"/>
              <a:t> </a:t>
            </a:r>
          </a:p>
          <a:p>
            <a:pPr lvl="0"/>
            <a:r>
              <a:rPr lang="en-IN" b="1" dirty="0"/>
              <a:t>Linux Signals &amp; Signal Handling</a:t>
            </a:r>
            <a:r>
              <a:rPr lang="en-IN" dirty="0"/>
              <a:t> </a:t>
            </a:r>
          </a:p>
          <a:p>
            <a:pPr lvl="0"/>
            <a:r>
              <a:rPr lang="en-IN" b="1" dirty="0"/>
              <a:t>Process Synchronization</a:t>
            </a:r>
            <a:r>
              <a:rPr lang="en-IN" dirty="0"/>
              <a:t> </a:t>
            </a:r>
          </a:p>
          <a:p>
            <a:pPr lvl="0"/>
            <a:r>
              <a:rPr lang="en-IN" b="1" dirty="0"/>
              <a:t>Parent–Child Process Communication</a:t>
            </a:r>
            <a:r>
              <a:rPr lang="en-IN" dirty="0"/>
              <a:t> </a:t>
            </a:r>
          </a:p>
          <a:p>
            <a:pPr lvl="0"/>
            <a:r>
              <a:rPr lang="en-IN" b="1" dirty="0"/>
              <a:t>Process Monitoring &amp; Control</a:t>
            </a:r>
            <a:r>
              <a:rPr lang="en-IN" dirty="0"/>
              <a:t> </a:t>
            </a:r>
          </a:p>
          <a:p>
            <a:pPr lvl="0"/>
            <a:r>
              <a:rPr lang="en-IN" b="1" dirty="0"/>
              <a:t>Process Termination</a:t>
            </a:r>
            <a:r>
              <a:rPr lang="en-IN" dirty="0"/>
              <a:t> </a:t>
            </a:r>
          </a:p>
          <a:p>
            <a:pPr lvl="0"/>
            <a:r>
              <a:rPr lang="en-IN" b="1" dirty="0"/>
              <a:t>Linux System Calls</a:t>
            </a:r>
            <a:r>
              <a:rPr lang="en-IN" dirty="0"/>
              <a:t> </a:t>
            </a:r>
          </a:p>
          <a:p>
            <a:pPr lvl="0"/>
            <a:r>
              <a:rPr lang="en-IN" b="1" dirty="0"/>
              <a:t>Operating System Process Scheduling</a:t>
            </a:r>
            <a:endParaRPr lang="en-IN" dirty="0"/>
          </a:p>
          <a:p>
            <a:endParaRPr lang="en-IN" dirty="0"/>
          </a:p>
        </p:txBody>
      </p:sp>
    </p:spTree>
    <p:extLst>
      <p:ext uri="{BB962C8B-B14F-4D97-AF65-F5344CB8AC3E}">
        <p14:creationId xmlns:p14="http://schemas.microsoft.com/office/powerpoint/2010/main" val="1265939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CFB73D-B7C9-A177-04F3-E48E841A875E}"/>
              </a:ext>
            </a:extLst>
          </p:cNvPr>
          <p:cNvSpPr>
            <a:spLocks noGrp="1"/>
          </p:cNvSpPr>
          <p:nvPr>
            <p:ph type="title"/>
          </p:nvPr>
        </p:nvSpPr>
        <p:spPr>
          <a:xfrm>
            <a:off x="814547" y="1119475"/>
            <a:ext cx="9779183" cy="651850"/>
          </a:xfrm>
        </p:spPr>
        <p:txBody>
          <a:bodyPr/>
          <a:lstStyle/>
          <a:p>
            <a:r>
              <a:rPr lang="en-US" sz="4400" dirty="0">
                <a:latin typeface="Crimson Pro SemiBold" pitchFamily="34" charset="0"/>
                <a:ea typeface="Crimson Pro SemiBold" pitchFamily="34" charset="-122"/>
                <a:cs typeface="Crimson Pro SemiBold" pitchFamily="34" charset="-120"/>
              </a:rPr>
              <a:t>Tools &amp; Technologies</a:t>
            </a:r>
            <a:br>
              <a:rPr lang="en-US" sz="4400" dirty="0"/>
            </a:br>
            <a:endParaRPr lang="en-US" dirty="0"/>
          </a:p>
        </p:txBody>
      </p:sp>
      <p:sp>
        <p:nvSpPr>
          <p:cNvPr id="4" name="Content Placeholder 3">
            <a:extLst>
              <a:ext uri="{FF2B5EF4-FFF2-40B4-BE49-F238E27FC236}">
                <a16:creationId xmlns:a16="http://schemas.microsoft.com/office/drawing/2014/main" id="{DBA34351-9D9C-8C32-5CC0-3F19A1CAC037}"/>
              </a:ext>
            </a:extLst>
          </p:cNvPr>
          <p:cNvSpPr>
            <a:spLocks noGrp="1"/>
          </p:cNvSpPr>
          <p:nvPr>
            <p:ph idx="12"/>
          </p:nvPr>
        </p:nvSpPr>
        <p:spPr>
          <a:xfrm>
            <a:off x="1248293" y="2062138"/>
            <a:ext cx="4664075" cy="3332162"/>
          </a:xfrm>
        </p:spPr>
        <p:txBody>
          <a:bodyPr>
            <a:normAutofit lnSpcReduction="10000"/>
          </a:bodyPr>
          <a:lstStyle/>
          <a:p>
            <a:pPr lvl="0"/>
            <a:r>
              <a:rPr lang="en-IN" b="1" dirty="0"/>
              <a:t>Operating System:</a:t>
            </a:r>
            <a:r>
              <a:rPr lang="en-IN" dirty="0"/>
              <a:t> Linux / Ubuntu </a:t>
            </a:r>
          </a:p>
          <a:p>
            <a:pPr lvl="0"/>
            <a:r>
              <a:rPr lang="en-IN" b="1" dirty="0"/>
              <a:t>Programming Language:</a:t>
            </a:r>
            <a:r>
              <a:rPr lang="en-IN" dirty="0"/>
              <a:t> C </a:t>
            </a:r>
          </a:p>
          <a:p>
            <a:pPr lvl="0"/>
            <a:r>
              <a:rPr lang="en-IN" b="1" dirty="0"/>
              <a:t>Compiler:</a:t>
            </a:r>
            <a:r>
              <a:rPr lang="en-IN" dirty="0"/>
              <a:t> GCC </a:t>
            </a:r>
          </a:p>
          <a:p>
            <a:pPr lvl="0"/>
            <a:r>
              <a:rPr lang="en-IN" b="1" dirty="0"/>
              <a:t>IDE/Editor:</a:t>
            </a:r>
            <a:r>
              <a:rPr lang="en-IN" dirty="0"/>
              <a:t> VS Code / Vim </a:t>
            </a:r>
          </a:p>
          <a:p>
            <a:pPr lvl="0"/>
            <a:r>
              <a:rPr lang="en-IN" b="1" dirty="0"/>
              <a:t>Terminal:</a:t>
            </a:r>
            <a:r>
              <a:rPr lang="en-IN" dirty="0"/>
              <a:t> Linux Terminal </a:t>
            </a:r>
          </a:p>
          <a:p>
            <a:pPr lvl="0"/>
            <a:r>
              <a:rPr lang="en-IN" b="1" dirty="0"/>
              <a:t>System Calls:</a:t>
            </a:r>
            <a:r>
              <a:rPr lang="en-IN" dirty="0"/>
              <a:t> fork(), kill(), signal(), wait(), </a:t>
            </a:r>
            <a:r>
              <a:rPr lang="en-IN" dirty="0" err="1"/>
              <a:t>getpid</a:t>
            </a:r>
            <a:r>
              <a:rPr lang="en-IN" dirty="0"/>
              <a:t>() </a:t>
            </a:r>
          </a:p>
          <a:p>
            <a:pPr lvl="0"/>
            <a:r>
              <a:rPr lang="en-IN" b="1" dirty="0"/>
              <a:t>IPC Mechanism:</a:t>
            </a:r>
            <a:r>
              <a:rPr lang="en-IN" dirty="0"/>
              <a:t> Linux Signals </a:t>
            </a:r>
          </a:p>
          <a:p>
            <a:pPr lvl="0"/>
            <a:r>
              <a:rPr lang="en-IN" b="1" dirty="0"/>
              <a:t>Version Control:</a:t>
            </a:r>
            <a:r>
              <a:rPr lang="en-IN" dirty="0"/>
              <a:t> Git &amp; GitHub</a:t>
            </a:r>
          </a:p>
          <a:p>
            <a:endParaRPr lang="en-US" dirty="0"/>
          </a:p>
        </p:txBody>
      </p:sp>
      <p:pic>
        <p:nvPicPr>
          <p:cNvPr id="5" name="Picture 4">
            <a:extLst>
              <a:ext uri="{FF2B5EF4-FFF2-40B4-BE49-F238E27FC236}">
                <a16:creationId xmlns:a16="http://schemas.microsoft.com/office/drawing/2014/main" id="{3A501986-E625-DCEE-07E1-B4076A6FAAE7}"/>
              </a:ext>
            </a:extLst>
          </p:cNvPr>
          <p:cNvPicPr>
            <a:picLocks noChangeAspect="1"/>
          </p:cNvPicPr>
          <p:nvPr/>
        </p:nvPicPr>
        <p:blipFill>
          <a:blip r:embed="rId3"/>
          <a:stretch>
            <a:fillRect/>
          </a:stretch>
        </p:blipFill>
        <p:spPr>
          <a:xfrm>
            <a:off x="7192379" y="1149792"/>
            <a:ext cx="3528099" cy="2599652"/>
          </a:xfrm>
          <a:prstGeom prst="rect">
            <a:avLst/>
          </a:prstGeom>
        </p:spPr>
      </p:pic>
      <p:pic>
        <p:nvPicPr>
          <p:cNvPr id="8" name="Picture 7">
            <a:extLst>
              <a:ext uri="{FF2B5EF4-FFF2-40B4-BE49-F238E27FC236}">
                <a16:creationId xmlns:a16="http://schemas.microsoft.com/office/drawing/2014/main" id="{AD41B0B7-95AD-83BD-9E8A-FA9413843168}"/>
              </a:ext>
            </a:extLst>
          </p:cNvPr>
          <p:cNvPicPr>
            <a:picLocks noChangeAspect="1"/>
          </p:cNvPicPr>
          <p:nvPr/>
        </p:nvPicPr>
        <p:blipFill>
          <a:blip r:embed="rId4"/>
          <a:stretch>
            <a:fillRect/>
          </a:stretch>
        </p:blipFill>
        <p:spPr>
          <a:xfrm>
            <a:off x="7192379" y="4094615"/>
            <a:ext cx="3728095" cy="2545294"/>
          </a:xfrm>
          <a:prstGeom prst="rect">
            <a:avLst/>
          </a:prstGeom>
        </p:spPr>
      </p:pic>
    </p:spTree>
    <p:extLst>
      <p:ext uri="{BB962C8B-B14F-4D97-AF65-F5344CB8AC3E}">
        <p14:creationId xmlns:p14="http://schemas.microsoft.com/office/powerpoint/2010/main" val="2652102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2FA0-5805-E9D5-E5A1-5B4B485CB096}"/>
              </a:ext>
            </a:extLst>
          </p:cNvPr>
          <p:cNvSpPr>
            <a:spLocks noGrp="1"/>
          </p:cNvSpPr>
          <p:nvPr>
            <p:ph type="title"/>
          </p:nvPr>
        </p:nvSpPr>
        <p:spPr>
          <a:xfrm>
            <a:off x="524695" y="612818"/>
            <a:ext cx="9692640" cy="697117"/>
          </a:xfrm>
        </p:spPr>
        <p:txBody>
          <a:bodyPr/>
          <a:lstStyle/>
          <a:p>
            <a:r>
              <a:rPr lang="en-IN" dirty="0"/>
              <a:t>Expected Output</a:t>
            </a:r>
            <a:endParaRPr lang="en-US" dirty="0"/>
          </a:p>
        </p:txBody>
      </p:sp>
      <p:sp>
        <p:nvSpPr>
          <p:cNvPr id="4" name="Content Placeholder 3">
            <a:extLst>
              <a:ext uri="{FF2B5EF4-FFF2-40B4-BE49-F238E27FC236}">
                <a16:creationId xmlns:a16="http://schemas.microsoft.com/office/drawing/2014/main" id="{EAE9A705-E123-1C6C-EC93-CEE377B741CC}"/>
              </a:ext>
            </a:extLst>
          </p:cNvPr>
          <p:cNvSpPr>
            <a:spLocks noGrp="1"/>
          </p:cNvSpPr>
          <p:nvPr>
            <p:ph idx="10"/>
          </p:nvPr>
        </p:nvSpPr>
        <p:spPr>
          <a:xfrm>
            <a:off x="289710" y="1584357"/>
            <a:ext cx="8265815" cy="4402801"/>
          </a:xfrm>
        </p:spPr>
        <p:txBody>
          <a:bodyPr/>
          <a:lstStyle/>
          <a:p>
            <a:pPr lvl="0"/>
            <a:r>
              <a:rPr lang="en-IN" sz="2800" dirty="0"/>
              <a:t>Successful creation of </a:t>
            </a:r>
            <a:r>
              <a:rPr lang="en-IN" sz="2800" b="1" dirty="0"/>
              <a:t>parent and child processes</a:t>
            </a:r>
            <a:r>
              <a:rPr lang="en-IN" sz="2800" dirty="0"/>
              <a:t>. </a:t>
            </a:r>
          </a:p>
          <a:p>
            <a:pPr lvl="0"/>
            <a:r>
              <a:rPr lang="en-IN" sz="2800" dirty="0"/>
              <a:t>Processes communicate using </a:t>
            </a:r>
            <a:r>
              <a:rPr lang="en-IN" sz="2800" b="1" dirty="0"/>
              <a:t>Linux signals</a:t>
            </a:r>
            <a:r>
              <a:rPr lang="en-IN" sz="2800" dirty="0"/>
              <a:t>. </a:t>
            </a:r>
          </a:p>
          <a:p>
            <a:pPr lvl="0"/>
            <a:r>
              <a:rPr lang="en-IN" sz="2800" dirty="0"/>
              <a:t>Correct response to signals such as </a:t>
            </a:r>
            <a:r>
              <a:rPr lang="en-IN" sz="2800" b="1" dirty="0"/>
              <a:t>SIGUSR1, SIGUSR2, and SIGTERM</a:t>
            </a:r>
            <a:r>
              <a:rPr lang="en-IN" sz="2800" dirty="0"/>
              <a:t>. </a:t>
            </a:r>
          </a:p>
          <a:p>
            <a:pPr lvl="0"/>
            <a:r>
              <a:rPr lang="en-IN" sz="2800" dirty="0"/>
              <a:t>Real-time display of </a:t>
            </a:r>
            <a:r>
              <a:rPr lang="en-IN" sz="2800" b="1" dirty="0"/>
              <a:t>process IDs and status</a:t>
            </a:r>
            <a:r>
              <a:rPr lang="en-IN" sz="2800" dirty="0"/>
              <a:t>. </a:t>
            </a:r>
          </a:p>
          <a:p>
            <a:pPr lvl="0"/>
            <a:r>
              <a:rPr lang="en-IN" sz="2800" dirty="0"/>
              <a:t>Controlled </a:t>
            </a:r>
            <a:r>
              <a:rPr lang="en-IN" sz="2800" b="1" dirty="0"/>
              <a:t>pause, resume, and termination</a:t>
            </a:r>
            <a:r>
              <a:rPr lang="en-IN" sz="2800" dirty="0"/>
              <a:t> of processes. </a:t>
            </a:r>
          </a:p>
          <a:p>
            <a:pPr lvl="0"/>
            <a:r>
              <a:rPr lang="en-IN" sz="2800" dirty="0"/>
              <a:t>Demonstration of efficient </a:t>
            </a:r>
            <a:r>
              <a:rPr lang="en-IN" sz="2800" b="1" dirty="0"/>
              <a:t>signal-based IPC and process control</a:t>
            </a:r>
            <a:r>
              <a:rPr lang="en-IN" sz="2800" dirty="0"/>
              <a:t>.</a:t>
            </a:r>
          </a:p>
          <a:p>
            <a:endParaRPr lang="en-US" sz="2800" dirty="0"/>
          </a:p>
        </p:txBody>
      </p:sp>
      <p:pic>
        <p:nvPicPr>
          <p:cNvPr id="8" name="Picture 7">
            <a:extLst>
              <a:ext uri="{FF2B5EF4-FFF2-40B4-BE49-F238E27FC236}">
                <a16:creationId xmlns:a16="http://schemas.microsoft.com/office/drawing/2014/main" id="{58A8A357-CAF6-8DA4-6D71-562B953D36A0}"/>
              </a:ext>
            </a:extLst>
          </p:cNvPr>
          <p:cNvPicPr>
            <a:picLocks noChangeAspect="1"/>
          </p:cNvPicPr>
          <p:nvPr/>
        </p:nvPicPr>
        <p:blipFill>
          <a:blip r:embed="rId3"/>
          <a:srcRect l="-284" t="6807" r="284" b="13862"/>
          <a:stretch>
            <a:fillRect/>
          </a:stretch>
        </p:blipFill>
        <p:spPr>
          <a:xfrm>
            <a:off x="8555525" y="1379545"/>
            <a:ext cx="3568808" cy="4227368"/>
          </a:xfrm>
          <a:prstGeom prst="rect">
            <a:avLst/>
          </a:prstGeom>
        </p:spPr>
      </p:pic>
    </p:spTree>
    <p:extLst>
      <p:ext uri="{BB962C8B-B14F-4D97-AF65-F5344CB8AC3E}">
        <p14:creationId xmlns:p14="http://schemas.microsoft.com/office/powerpoint/2010/main" val="907915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642796" y="2344848"/>
            <a:ext cx="7315344" cy="1638676"/>
          </a:xfrm>
        </p:spPr>
        <p:txBody>
          <a:bodyPr/>
          <a:lstStyle/>
          <a:p>
            <a:r>
              <a:rPr lang="en-US" sz="9800" dirty="0"/>
              <a:t>THANK YOU</a:t>
            </a:r>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Universal presentation</Template>
  <TotalTime>39</TotalTime>
  <Words>657</Words>
  <Application>Microsoft Office PowerPoint</Application>
  <PresentationFormat>Widescreen</PresentationFormat>
  <Paragraphs>80</Paragraphs>
  <Slides>10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Bell MT</vt:lpstr>
      <vt:lpstr>Calibri</vt:lpstr>
      <vt:lpstr>Crimson Pro SemiBold</vt:lpstr>
      <vt:lpstr>Tenorite</vt:lpstr>
      <vt:lpstr>Wingdings</vt:lpstr>
      <vt:lpstr>Custom</vt:lpstr>
      <vt:lpstr>Linux Signal-Based Process Communication and Control System Course: Operating Systems and Systems Programming  Course Code: 25CS2104E  |  Section: 1  |  Team No: 7 Team Members:  2520030411 - Manaswi 2520030517 – Nithya  2520030272 – Sri Lakshmi </vt:lpstr>
      <vt:lpstr>Abstract</vt:lpstr>
      <vt:lpstr>Problem Statement</vt:lpstr>
      <vt:lpstr>Objectives</vt:lpstr>
      <vt:lpstr>Proposed Methodology </vt:lpstr>
      <vt:lpstr>Project Workflow</vt:lpstr>
      <vt:lpstr>Linux System Calls / OS Concepts Used</vt:lpstr>
      <vt:lpstr>Tools &amp; Technologies </vt:lpstr>
      <vt:lpstr>Expected Output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manaswi chilukuri</dc:creator>
  <cp:lastModifiedBy>manaswi chilukuri</cp:lastModifiedBy>
  <cp:revision>1</cp:revision>
  <dcterms:created xsi:type="dcterms:W3CDTF">2026-09-02T05:02:29Z</dcterms:created>
  <dcterms:modified xsi:type="dcterms:W3CDTF">2026-09-02T05:41:39Z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